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9" r:id="rId2"/>
  </p:sldMasterIdLst>
  <p:notesMasterIdLst>
    <p:notesMasterId r:id="rId15"/>
  </p:notesMasterIdLst>
  <p:sldIdLst>
    <p:sldId id="256" r:id="rId3"/>
    <p:sldId id="257" r:id="rId4"/>
    <p:sldId id="259" r:id="rId5"/>
    <p:sldId id="268" r:id="rId6"/>
    <p:sldId id="267" r:id="rId7"/>
    <p:sldId id="266" r:id="rId8"/>
    <p:sldId id="265" r:id="rId9"/>
    <p:sldId id="270" r:id="rId10"/>
    <p:sldId id="269" r:id="rId11"/>
    <p:sldId id="260" r:id="rId12"/>
    <p:sldId id="261" r:id="rId13"/>
    <p:sldId id="262" r:id="rId14"/>
  </p:sldIdLst>
  <p:sldSz cx="14630400" cy="8229600"/>
  <p:notesSz cx="8229600" cy="14630400"/>
  <p:embeddedFontLst>
    <p:embeddedFont>
      <p:font typeface="Inter" panose="020B0604020202020204" charset="0"/>
      <p:regular r:id="rId16"/>
    </p:embeddedFont>
    <p:embeddedFont>
      <p:font typeface="Manrope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68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142EA-6F6E-6A50-F5B4-805DB8D69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4C321-5275-2447-40B8-0BABC0AAF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A9F4B0-7275-3461-1262-B90428ABB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799A3-AF88-745A-B098-7EAC967E92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01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48CBA-F644-D558-8230-548FC4753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C7212-3C49-2E27-CDD1-FB91817EE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5AF749-4B2A-95F1-3F65-99B77E7B8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0EBFB-DF69-68CB-2B8E-205B26521D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412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DED4C-2A2A-ECA2-B214-F2CD972BA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B7201-1850-AE97-5787-83665EFAE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97D66-A209-408D-E793-A3B278D39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02A70-BC86-CB51-81B8-858DEA9217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2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C7409-9D18-C8EE-1DE7-FAF8EBE25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C5235-5081-EF72-4551-A3C77379D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4D0B4-959E-25E4-39D8-5E69E1E85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C9B67-245F-9752-BC92-CBD818DB24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24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89269-C8A1-30D5-BB14-755B3B267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77A8F4-B2F5-F009-EAF3-15A96967F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88FD8-836D-E4A0-082E-C5990D10F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94F23-5286-2589-6310-DD6B420987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547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9D4B-70B3-555B-271F-C0BDFBD60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FC12B-8D91-9D28-003D-00B565560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AD1AA-47CA-5EC9-F2DB-85C3BBE6C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197A6-F5F3-2A6B-F27B-06490563DE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179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5E42C-34B6-23AA-347B-C628CEE3E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200"/>
            <a:ext cx="10972800" cy="28654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98989E-BD5C-190A-AF35-2F7452FBAF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763"/>
            <a:ext cx="10972800" cy="19859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71463-B6B6-C12F-E5FD-DCB81282E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8B29-E7EB-49AC-8D52-80B76C1D213D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8E11D-4990-09C7-BEA4-3741D5F7B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014F0-285A-0B18-5CE3-7F6B8523C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A2E6-F0E6-4D64-A4BB-6A7C9D82B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96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1B19C-9E24-FFFA-BF1C-5DA7EA3B3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169C3-BD47-1A48-BFAF-9A2D396B8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58C91-2E81-B0F5-0F5F-2D4826AFD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D1815-5B50-4318-A6F0-D850BBFDE2D5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3B62-FE16-92F7-29BD-09FB9FE9B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9C182-AB14-BA9F-54A6-FE9CF5766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A2E6-F0E6-4D64-A4BB-6A7C9D82B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88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7A234-8B83-8EC7-02BC-64046E6A4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538" y="2051050"/>
            <a:ext cx="12619037" cy="34242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A08A6-CB24-ED17-48AF-6749B6C41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538" y="5507038"/>
            <a:ext cx="12619037" cy="18002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05C64-99A2-5EFD-5160-66142F35B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5853-F821-4DE6-BD11-809C8A64BB73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E9520-572E-CB64-F757-C103881B7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5668B-D7BA-3095-0DD3-F6DE87DC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A2E6-F0E6-4D64-A4BB-6A7C9D82B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43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B10BF-3E6C-6038-E17B-C812F0C40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5B966-27AC-C5DE-1E9F-DF59B32748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6475" y="2190750"/>
            <a:ext cx="6232525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35B13-CDA9-D4E3-77CF-3124494B0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91400" y="2190750"/>
            <a:ext cx="6232525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5E5C5-6345-C240-5C8A-05113581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F347-5643-4E9B-9825-6476EBC8C5E8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59102-342C-410E-4A54-893857DBD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AD5C7-7EAA-9B6D-84A7-B24FEDDE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A2E6-F0E6-4D64-A4BB-6A7C9D82B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0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7AEB9-86C9-141A-3629-0C15E2DC9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438150"/>
            <a:ext cx="12619037" cy="15906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70345-CF36-B95A-EBA7-A78C70EC7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8063" y="2017713"/>
            <a:ext cx="6189662" cy="989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6BD35-6566-8116-91B2-F95C840C0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8063" y="3006725"/>
            <a:ext cx="6189662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83804A-A728-1806-873D-9A836739D5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7275" y="2017713"/>
            <a:ext cx="6219825" cy="989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0C46E4-99E2-02A2-1D51-D89918798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7275" y="3006725"/>
            <a:ext cx="6219825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85FAB8-9A98-4797-4B64-9D9EE388A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416A6-EFD5-4DEE-A0E8-E1BFC24E7E43}" type="datetime1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7319FA-A4BC-FA75-B134-216527973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BA838E-B62C-0ED3-A123-DB4F7D9C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A2E6-F0E6-4D64-A4BB-6A7C9D82B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53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9FBD-00DE-A31A-538A-58E5EC85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3A3E7-1CD5-BB02-DB4B-7FC7C7099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BA654-256F-4010-BCEE-86C3A5432CDB}" type="datetime1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47EDB7-D4EF-2433-A781-B248A520C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CC758-6CD6-16EF-0C11-653394C3F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A2E6-F0E6-4D64-A4BB-6A7C9D82B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94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6A30AF-C8B4-197C-8A2F-AA964D37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1517-7968-4EE3-AE8D-E4E017967895}" type="datetime1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F7692C-422A-EA4B-1B2A-B0009191C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B742E-E4CB-34A7-6E82-515E2D2B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A2E6-F0E6-4D64-A4BB-6A7C9D82B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638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D1286-5530-1C50-73C4-DA4F418A0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549275"/>
            <a:ext cx="4718050" cy="19192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9CD41-1922-8F4C-780D-76A1067C6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5" y="1184275"/>
            <a:ext cx="7407275" cy="58483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C0F8C-C94C-F148-4FAB-6BE6817CB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8063" y="2468563"/>
            <a:ext cx="4718050" cy="4573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47B23-6D88-13C5-2BD5-6A7C1C04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26002-2D84-4B1C-A09F-F3D8A49AE02D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3C85F-AF90-63D2-20CF-B6F9B32ED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75740-456E-E36D-4B84-A5AE0038A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A2E6-F0E6-4D64-A4BB-6A7C9D82B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223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CFB8B-6D50-EA53-9B69-68653C8AE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549275"/>
            <a:ext cx="4718050" cy="19192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5A8D4E-D346-AB34-B8F8-50447F4AA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5" y="1184275"/>
            <a:ext cx="7407275" cy="58483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5B1FB-905D-FFD6-D46C-7AAF81B25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8063" y="2468563"/>
            <a:ext cx="4718050" cy="4573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0668D-DEDF-A8BA-846D-A57D7EB70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B8D01-C48A-448C-80CF-E05D16C91104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42857-8AD4-2451-FB3A-E7883F087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756FB-2D93-E8BF-7AA7-AA9474C4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A2E6-F0E6-4D64-A4BB-6A7C9D82B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931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20A89-6174-1225-11B0-30E7BEA58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BFF65A-85B6-2C31-33BA-92D7FD04D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20B04-98BB-93B9-0ACE-DF4010897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9FD7D-56E6-4708-8F03-580519C32B2B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D3D4E-16CE-C9A0-30ED-25D6059CC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D74EF-9514-59F6-CE3D-2657BC49A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A2E6-F0E6-4D64-A4BB-6A7C9D82B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35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868388-B669-290F-45FB-08CE04EA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563" y="438150"/>
            <a:ext cx="3154362" cy="6973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CD8AE8-A89B-A339-49DE-72D5ED0AB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6475" y="438150"/>
            <a:ext cx="9310688" cy="6973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FD7C0-30C2-AFBE-96DF-AB9C36E77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ADDF2-D958-4445-B1C2-08FA51C1C3EA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FEC43-3337-1387-9193-EA35C0AAF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C0967-DAE4-AF87-562D-BE98D09BA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A2E6-F0E6-4D64-A4BB-6A7C9D82B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45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4A9B9F-20A9-C259-749F-FA9ABBFF0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475" y="438150"/>
            <a:ext cx="12617450" cy="1590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3587B-C7FB-476F-720C-32482AFF2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6475" y="2190750"/>
            <a:ext cx="12617450" cy="522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9A491-23E1-9904-858B-5F5232369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6475" y="7627938"/>
            <a:ext cx="329088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834C4-0381-45CE-BB80-2418C355D613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43618-2B5D-AE0A-DA28-646AAB30C0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638" y="7627938"/>
            <a:ext cx="493712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D0521-2C4C-BB8D-0EAE-0EA97573B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7A2E6-F0E6-4D64-A4BB-6A7C9D82B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66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jp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jp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1.png"/><Relationship Id="rId7" Type="http://schemas.openxmlformats.org/officeDocument/2006/relationships/image" Target="../media/image2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91206" y="122432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CRC-MBSTU and the SDGs: Working for a Sustainable Future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940061" y="3800969"/>
            <a:ext cx="75564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 for Road Child, Mawlana Bhashani Science and Technology University</a:t>
            </a:r>
            <a:endParaRPr lang="en-US" sz="26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0FF028-883A-D927-6395-B33597749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215"/>
            <a:ext cx="5590836" cy="82328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83689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Introducing Come for Road Child (CRC-MBSTU)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594610"/>
            <a:ext cx="7556421" cy="4797981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87810" y="2602230"/>
            <a:ext cx="3770590" cy="3112889"/>
          </a:xfrm>
          <a:prstGeom prst="roundRect">
            <a:avLst>
              <a:gd name="adj" fmla="val 6558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514624" y="2829044"/>
            <a:ext cx="297680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Voluntary Student Organisation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3673793"/>
            <a:ext cx="297680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dynamic, student-led initiative based at Mawlana Bhashani Science and Technology University (MBSTU).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058400" y="2602230"/>
            <a:ext cx="3770590" cy="31128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10058400" y="2602230"/>
            <a:ext cx="30480" cy="3112889"/>
          </a:xfrm>
          <a:prstGeom prst="roundRect">
            <a:avLst>
              <a:gd name="adj" fmla="val 669768"/>
            </a:avLst>
          </a:prstGeom>
          <a:solidFill>
            <a:srgbClr val="E5562D"/>
          </a:solidFill>
          <a:ln/>
        </p:spPr>
      </p:sp>
      <p:sp>
        <p:nvSpPr>
          <p:cNvPr id="10" name="Text 7"/>
          <p:cNvSpPr/>
          <p:nvPr/>
        </p:nvSpPr>
        <p:spPr>
          <a:xfrm>
            <a:off x="10625376" y="28290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Mission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625376" y="3319463"/>
            <a:ext cx="297680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Dedicated to supporting underprivileged and street children in the local community.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774912" y="3875127"/>
            <a:ext cx="566976" cy="566976"/>
          </a:xfrm>
          <a:prstGeom prst="roundRect">
            <a:avLst>
              <a:gd name="adj" fmla="val 36006"/>
            </a:avLst>
          </a:prstGeom>
          <a:solidFill>
            <a:srgbClr val="FFFFFF"/>
          </a:solidFill>
          <a:ln w="30480">
            <a:solidFill>
              <a:srgbClr val="E5562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6597" y="4016812"/>
            <a:ext cx="283488" cy="2834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87810" y="5715119"/>
            <a:ext cx="7541181" cy="16698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6287810" y="5715119"/>
            <a:ext cx="7541181" cy="30480"/>
          </a:xfrm>
          <a:prstGeom prst="roundRect">
            <a:avLst>
              <a:gd name="adj" fmla="val 669768"/>
            </a:avLst>
          </a:prstGeom>
          <a:solidFill>
            <a:srgbClr val="E5562D"/>
          </a:solidFill>
          <a:ln/>
        </p:spPr>
      </p:sp>
      <p:sp>
        <p:nvSpPr>
          <p:cNvPr id="16" name="Text 12"/>
          <p:cNvSpPr/>
          <p:nvPr/>
        </p:nvSpPr>
        <p:spPr>
          <a:xfrm>
            <a:off x="6514624" y="59419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Pillars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514624" y="6432352"/>
            <a:ext cx="67473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Focusing on holistic support through education, healthcare access, and social awareness programmes.</a:t>
            </a:r>
            <a:endParaRPr lang="en-US" sz="17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52DF8EA-D181-E7E0-4690-24BE7B2889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247" y="1233951"/>
            <a:ext cx="5877314" cy="58773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422" y="775097"/>
            <a:ext cx="11892082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CRC-MBSTU’s Direct Alignment with Global Goals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8422" y="1812369"/>
            <a:ext cx="1321355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CRC's voluntary efforts directly address six critical SDGs, demonstrating the power of youth-led local action to achieve global impact.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08422" y="2667476"/>
            <a:ext cx="4269581" cy="2464356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08422" y="2644616"/>
            <a:ext cx="4269581" cy="91440"/>
          </a:xfrm>
          <a:prstGeom prst="roundRect">
            <a:avLst>
              <a:gd name="adj" fmla="val 199220"/>
            </a:avLst>
          </a:prstGeom>
          <a:solidFill>
            <a:srgbClr val="FF7047"/>
          </a:solidFill>
          <a:ln/>
        </p:spPr>
      </p:sp>
      <p:sp>
        <p:nvSpPr>
          <p:cNvPr id="6" name="Shape 4"/>
          <p:cNvSpPr/>
          <p:nvPr/>
        </p:nvSpPr>
        <p:spPr>
          <a:xfrm>
            <a:off x="2539603" y="2363867"/>
            <a:ext cx="607219" cy="607219"/>
          </a:xfrm>
          <a:prstGeom prst="roundRect">
            <a:avLst>
              <a:gd name="adj" fmla="val 150588"/>
            </a:avLst>
          </a:prstGeom>
          <a:solidFill>
            <a:srgbClr val="FF704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1769" y="2546033"/>
            <a:ext cx="242888" cy="242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3688" y="3173492"/>
            <a:ext cx="253007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1: No Poverty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33688" y="3611166"/>
            <a:ext cx="3819049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Providing essential food aid and financial support to lift vulnerable children out of extreme poverty.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180409" y="2667476"/>
            <a:ext cx="4269581" cy="2464356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9652397" y="2667476"/>
            <a:ext cx="4269581" cy="2464356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/>
        </p:spPr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DC3F3E5-B47F-A8F5-8975-4B2AB62BB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4768" y="4825171"/>
            <a:ext cx="4748712" cy="267334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61BF914-219E-082E-8E93-EB962B4AAA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2278" y="2733766"/>
            <a:ext cx="3882178" cy="29177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593C-1B67-0E86-0174-B4ADC8BA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0152C9-C8AD-B0AD-5A2E-54F411C485FE}"/>
              </a:ext>
            </a:extLst>
          </p:cNvPr>
          <p:cNvSpPr/>
          <p:nvPr/>
        </p:nvSpPr>
        <p:spPr>
          <a:xfrm>
            <a:off x="708422" y="775097"/>
            <a:ext cx="11892082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CRC-MBSTU’s Direct Alignment with Global Goals</a:t>
            </a:r>
            <a:endParaRPr lang="en-US" sz="3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A141C5-F323-8DF2-C083-847F3BD55101}"/>
              </a:ext>
            </a:extLst>
          </p:cNvPr>
          <p:cNvSpPr/>
          <p:nvPr/>
        </p:nvSpPr>
        <p:spPr>
          <a:xfrm>
            <a:off x="708422" y="1812369"/>
            <a:ext cx="1321355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CRC's voluntary efforts directly address some critical SDGs, demonstrating the power of youth-led local action to achieve global impact.</a:t>
            </a:r>
            <a:endParaRPr lang="en-US" sz="15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13742A3-E58A-8CE4-6C2C-86A6AA2AB948}"/>
              </a:ext>
            </a:extLst>
          </p:cNvPr>
          <p:cNvSpPr/>
          <p:nvPr/>
        </p:nvSpPr>
        <p:spPr>
          <a:xfrm>
            <a:off x="701736" y="2667476"/>
            <a:ext cx="4269581" cy="2464356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36FA487-3FE5-466D-E29B-9ABEB1BD1CFE}"/>
              </a:ext>
            </a:extLst>
          </p:cNvPr>
          <p:cNvSpPr/>
          <p:nvPr/>
        </p:nvSpPr>
        <p:spPr>
          <a:xfrm>
            <a:off x="708422" y="2644616"/>
            <a:ext cx="4269581" cy="91440"/>
          </a:xfrm>
          <a:prstGeom prst="roundRect">
            <a:avLst>
              <a:gd name="adj" fmla="val 199220"/>
            </a:avLst>
          </a:prstGeom>
          <a:solidFill>
            <a:srgbClr val="FF7047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77A1CFB-F6A3-B523-99D0-B3F6931803E7}"/>
              </a:ext>
            </a:extLst>
          </p:cNvPr>
          <p:cNvSpPr/>
          <p:nvPr/>
        </p:nvSpPr>
        <p:spPr>
          <a:xfrm>
            <a:off x="2539603" y="2363867"/>
            <a:ext cx="607219" cy="607219"/>
          </a:xfrm>
          <a:prstGeom prst="roundRect">
            <a:avLst>
              <a:gd name="adj" fmla="val 150588"/>
            </a:avLst>
          </a:prstGeom>
          <a:solidFill>
            <a:srgbClr val="FF7047"/>
          </a:solidFill>
          <a:ln/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CB207B32-C7AC-F421-AD83-47F50A4A9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1769" y="2546033"/>
            <a:ext cx="242888" cy="242888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B2B3DC6C-289C-1D39-D0F3-A0874746BCE0}"/>
              </a:ext>
            </a:extLst>
          </p:cNvPr>
          <p:cNvSpPr/>
          <p:nvPr/>
        </p:nvSpPr>
        <p:spPr>
          <a:xfrm>
            <a:off x="933688" y="3173492"/>
            <a:ext cx="253007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2: Zero hunger</a:t>
            </a:r>
            <a:endParaRPr lang="en-US" sz="19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5C3CC11-475E-D039-3782-77530E46BE90}"/>
              </a:ext>
            </a:extLst>
          </p:cNvPr>
          <p:cNvSpPr/>
          <p:nvPr/>
        </p:nvSpPr>
        <p:spPr>
          <a:xfrm>
            <a:off x="933688" y="3611165"/>
            <a:ext cx="4037629" cy="1138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dirty="0"/>
              <a:t>The club often arranges food distribution programs for street and needy children to ensure basic nutrition</a:t>
            </a:r>
            <a:endParaRPr lang="en-US" sz="1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A04BD23-A793-73A2-7BB4-ABB4E40123FF}"/>
              </a:ext>
            </a:extLst>
          </p:cNvPr>
          <p:cNvSpPr/>
          <p:nvPr/>
        </p:nvSpPr>
        <p:spPr>
          <a:xfrm>
            <a:off x="5180409" y="2667476"/>
            <a:ext cx="4269581" cy="2464356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/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D66701BE-C107-6591-6DD4-2C8139F89B15}"/>
              </a:ext>
            </a:extLst>
          </p:cNvPr>
          <p:cNvSpPr/>
          <p:nvPr/>
        </p:nvSpPr>
        <p:spPr>
          <a:xfrm>
            <a:off x="9652397" y="2667476"/>
            <a:ext cx="4269581" cy="2464356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/>
        </p:spPr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E1ECE25-6885-7039-28F7-9B1BF63524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2671" y="2843781"/>
            <a:ext cx="4122683" cy="30636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D7A919-CCDD-7944-C677-6FD560CD22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8923" y="4168095"/>
            <a:ext cx="3758586" cy="333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913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52D9-E6FC-85AB-D2C4-0FA039B6B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60E979-52F0-2C13-DAF7-8601DFF9F90B}"/>
              </a:ext>
            </a:extLst>
          </p:cNvPr>
          <p:cNvSpPr/>
          <p:nvPr/>
        </p:nvSpPr>
        <p:spPr>
          <a:xfrm>
            <a:off x="708422" y="775097"/>
            <a:ext cx="11892082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CRC-MBSTU’s Direct Alignment with Global Goals</a:t>
            </a:r>
            <a:endParaRPr lang="en-US" sz="3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8C9634-4CB8-558F-615A-F220A2B8DFAB}"/>
              </a:ext>
            </a:extLst>
          </p:cNvPr>
          <p:cNvSpPr/>
          <p:nvPr/>
        </p:nvSpPr>
        <p:spPr>
          <a:xfrm>
            <a:off x="708422" y="1812369"/>
            <a:ext cx="1321355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CRC's voluntary efforts directly address some critical SDGs, demonstrating the power of youth-led local action to achieve global impact.</a:t>
            </a:r>
            <a:endParaRPr lang="en-US" sz="15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ED0657E-199A-4CF7-9029-BD809F4EDE1F}"/>
              </a:ext>
            </a:extLst>
          </p:cNvPr>
          <p:cNvSpPr/>
          <p:nvPr/>
        </p:nvSpPr>
        <p:spPr>
          <a:xfrm>
            <a:off x="708422" y="2667476"/>
            <a:ext cx="4269581" cy="2464356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/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FBBC4A4-290D-11C2-8D50-1D9D59AFF816}"/>
              </a:ext>
            </a:extLst>
          </p:cNvPr>
          <p:cNvSpPr/>
          <p:nvPr/>
        </p:nvSpPr>
        <p:spPr>
          <a:xfrm>
            <a:off x="5180409" y="2667476"/>
            <a:ext cx="4269581" cy="2464356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C3F2CECE-58A0-F5C9-7492-3562A7E5DB27}"/>
              </a:ext>
            </a:extLst>
          </p:cNvPr>
          <p:cNvSpPr/>
          <p:nvPr/>
        </p:nvSpPr>
        <p:spPr>
          <a:xfrm>
            <a:off x="819428" y="2785289"/>
            <a:ext cx="4269581" cy="91440"/>
          </a:xfrm>
          <a:prstGeom prst="roundRect">
            <a:avLst>
              <a:gd name="adj" fmla="val 199220"/>
            </a:avLst>
          </a:prstGeom>
          <a:solidFill>
            <a:srgbClr val="FF7047"/>
          </a:solidFill>
          <a:ln/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BFD936B-7A15-0C60-7CD8-F6E3FCE3EC47}"/>
              </a:ext>
            </a:extLst>
          </p:cNvPr>
          <p:cNvSpPr/>
          <p:nvPr/>
        </p:nvSpPr>
        <p:spPr>
          <a:xfrm>
            <a:off x="2650610" y="2504540"/>
            <a:ext cx="607219" cy="607219"/>
          </a:xfrm>
          <a:prstGeom prst="roundRect">
            <a:avLst>
              <a:gd name="adj" fmla="val 150588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7379C949-492D-2688-A941-0BCF67C28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2775" y="2686706"/>
            <a:ext cx="242888" cy="242888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B7C7F8F0-2E6A-37C7-6FC9-6DF28218DCD9}"/>
              </a:ext>
            </a:extLst>
          </p:cNvPr>
          <p:cNvSpPr/>
          <p:nvPr/>
        </p:nvSpPr>
        <p:spPr>
          <a:xfrm>
            <a:off x="1044695" y="3314165"/>
            <a:ext cx="253007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3: Good Health</a:t>
            </a:r>
            <a:endParaRPr lang="en-US" sz="195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FDBB182-BE3E-8DE8-D460-A0BB123FE034}"/>
              </a:ext>
            </a:extLst>
          </p:cNvPr>
          <p:cNvSpPr/>
          <p:nvPr/>
        </p:nvSpPr>
        <p:spPr>
          <a:xfrm>
            <a:off x="1044695" y="3751839"/>
            <a:ext cx="3819049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Organising health camps, offering essential first aid training, and facilitating medical support for street children.</a:t>
            </a:r>
            <a:endParaRPr lang="en-US" sz="155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9257A3D1-41B2-FD99-643C-3EBE237D9C2B}"/>
              </a:ext>
            </a:extLst>
          </p:cNvPr>
          <p:cNvSpPr/>
          <p:nvPr/>
        </p:nvSpPr>
        <p:spPr>
          <a:xfrm>
            <a:off x="9652397" y="2667476"/>
            <a:ext cx="4269581" cy="2464356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/>
        </p:spPr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ECE3FBC-8714-8E3A-82B8-D53E609CAA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6961" y="2440080"/>
            <a:ext cx="6991562" cy="546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934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0CB9D-3533-995F-1B3D-3B8113E18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973018A-FA5D-0048-FA03-2AB4866DE2E1}"/>
              </a:ext>
            </a:extLst>
          </p:cNvPr>
          <p:cNvSpPr/>
          <p:nvPr/>
        </p:nvSpPr>
        <p:spPr>
          <a:xfrm>
            <a:off x="708422" y="775097"/>
            <a:ext cx="11892082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CRC-MBSTU’s Direct Alignment with Global Goals</a:t>
            </a:r>
            <a:endParaRPr lang="en-US" sz="3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16D651-2819-E2E8-8BDA-A7B26BDC21EC}"/>
              </a:ext>
            </a:extLst>
          </p:cNvPr>
          <p:cNvSpPr/>
          <p:nvPr/>
        </p:nvSpPr>
        <p:spPr>
          <a:xfrm>
            <a:off x="708422" y="1812369"/>
            <a:ext cx="1321355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CRC's voluntary efforts directly address some critical SDGs, demonstrating the power of youth-led local action to achieve global impact.</a:t>
            </a:r>
            <a:endParaRPr lang="en-US" sz="15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C275DD5-9D51-B1F1-9F78-86AB4B291E25}"/>
              </a:ext>
            </a:extLst>
          </p:cNvPr>
          <p:cNvSpPr/>
          <p:nvPr/>
        </p:nvSpPr>
        <p:spPr>
          <a:xfrm>
            <a:off x="708422" y="2667476"/>
            <a:ext cx="4269581" cy="2464356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/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B71003D-1469-C9B9-3253-F2BB8900E1FF}"/>
              </a:ext>
            </a:extLst>
          </p:cNvPr>
          <p:cNvSpPr/>
          <p:nvPr/>
        </p:nvSpPr>
        <p:spPr>
          <a:xfrm>
            <a:off x="5122987" y="2667476"/>
            <a:ext cx="4269581" cy="2464356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/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828516B8-DB12-8301-F80B-02313DCA57A3}"/>
              </a:ext>
            </a:extLst>
          </p:cNvPr>
          <p:cNvSpPr/>
          <p:nvPr/>
        </p:nvSpPr>
        <p:spPr>
          <a:xfrm>
            <a:off x="9652397" y="2667476"/>
            <a:ext cx="4269581" cy="2464356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895251" y="2644616"/>
            <a:ext cx="4269581" cy="91440"/>
          </a:xfrm>
          <a:prstGeom prst="roundRect">
            <a:avLst>
              <a:gd name="adj" fmla="val 199220"/>
            </a:avLst>
          </a:prstGeom>
          <a:solidFill>
            <a:srgbClr val="FF7047"/>
          </a:solidFill>
          <a:ln/>
        </p:spPr>
      </p:sp>
      <p:sp>
        <p:nvSpPr>
          <p:cNvPr id="18" name="Shape 14"/>
          <p:cNvSpPr/>
          <p:nvPr/>
        </p:nvSpPr>
        <p:spPr>
          <a:xfrm>
            <a:off x="2726432" y="2363867"/>
            <a:ext cx="607219" cy="607219"/>
          </a:xfrm>
          <a:prstGeom prst="roundRect">
            <a:avLst>
              <a:gd name="adj" fmla="val 150588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08598" y="2546033"/>
            <a:ext cx="242888" cy="242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20517" y="3173492"/>
            <a:ext cx="3010614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4: Quality Education</a:t>
            </a:r>
            <a:endParaRPr lang="en-US" sz="1950" dirty="0"/>
          </a:p>
        </p:txBody>
      </p:sp>
      <p:sp>
        <p:nvSpPr>
          <p:cNvPr id="21" name="Text 16"/>
          <p:cNvSpPr/>
          <p:nvPr/>
        </p:nvSpPr>
        <p:spPr>
          <a:xfrm>
            <a:off x="1120517" y="3611166"/>
            <a:ext cx="3819049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Conducting free, structured teaching sessions and donation drives for books and stationery.</a:t>
            </a:r>
            <a:endParaRPr lang="en-US" sz="15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2F000BF-DC0B-49E7-E2B1-7954417240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5560" y="4365479"/>
            <a:ext cx="4316936" cy="343172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5C9FF75-AF02-6746-9CE6-435D2D9312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0232" y="2644616"/>
            <a:ext cx="4269581" cy="343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597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F80C9-BC10-BAAC-A4CF-96C17D853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3D1D36-F6DF-DD60-1EE2-0E60D83E72F0}"/>
              </a:ext>
            </a:extLst>
          </p:cNvPr>
          <p:cNvSpPr/>
          <p:nvPr/>
        </p:nvSpPr>
        <p:spPr>
          <a:xfrm>
            <a:off x="708422" y="775097"/>
            <a:ext cx="11892082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CRC-MBSTU’s Direct Alignment with Global Goals</a:t>
            </a:r>
            <a:endParaRPr lang="en-US" sz="3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88E0BC-1BD4-A435-D6B0-C578E98EBDEA}"/>
              </a:ext>
            </a:extLst>
          </p:cNvPr>
          <p:cNvSpPr/>
          <p:nvPr/>
        </p:nvSpPr>
        <p:spPr>
          <a:xfrm>
            <a:off x="708422" y="1812369"/>
            <a:ext cx="1321355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CRC's voluntary efforts directly address some critical SDGs, demonstrating the power of youth-led local action to achieve global impact.</a:t>
            </a:r>
            <a:endParaRPr lang="en-US" sz="15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A45B754-1A6E-E421-76DE-F9F4EE420512}"/>
              </a:ext>
            </a:extLst>
          </p:cNvPr>
          <p:cNvSpPr/>
          <p:nvPr/>
        </p:nvSpPr>
        <p:spPr>
          <a:xfrm>
            <a:off x="708422" y="2667476"/>
            <a:ext cx="4269581" cy="2464356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/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01C627A6-FBF3-9702-C40C-831FD6A6EC52}"/>
              </a:ext>
            </a:extLst>
          </p:cNvPr>
          <p:cNvSpPr/>
          <p:nvPr/>
        </p:nvSpPr>
        <p:spPr>
          <a:xfrm>
            <a:off x="9652397" y="2667476"/>
            <a:ext cx="4269581" cy="2464356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/>
        </p:spPr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A457C0BE-91B5-9BE1-C211-6D345AE782B7}"/>
              </a:ext>
            </a:extLst>
          </p:cNvPr>
          <p:cNvSpPr/>
          <p:nvPr/>
        </p:nvSpPr>
        <p:spPr>
          <a:xfrm>
            <a:off x="708422" y="5637848"/>
            <a:ext cx="6505575" cy="1816656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/>
        </p:spPr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1185AAC9-E4D8-72F3-1550-05F7A2B90986}"/>
              </a:ext>
            </a:extLst>
          </p:cNvPr>
          <p:cNvSpPr/>
          <p:nvPr/>
        </p:nvSpPr>
        <p:spPr>
          <a:xfrm>
            <a:off x="696699" y="2930405"/>
            <a:ext cx="6505575" cy="91440"/>
          </a:xfrm>
          <a:prstGeom prst="roundRect">
            <a:avLst>
              <a:gd name="adj" fmla="val 199220"/>
            </a:avLst>
          </a:prstGeom>
          <a:solidFill>
            <a:srgbClr val="FF7047"/>
          </a:solidFill>
          <a:ln/>
        </p:spPr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9C71C9C2-9DB7-26BF-7BCF-4CE74C57BF30}"/>
              </a:ext>
            </a:extLst>
          </p:cNvPr>
          <p:cNvSpPr/>
          <p:nvPr/>
        </p:nvSpPr>
        <p:spPr>
          <a:xfrm>
            <a:off x="3645877" y="2649655"/>
            <a:ext cx="607219" cy="607219"/>
          </a:xfrm>
          <a:prstGeom prst="roundRect">
            <a:avLst>
              <a:gd name="adj" fmla="val 150588"/>
            </a:avLst>
          </a:prstGeom>
          <a:solidFill>
            <a:srgbClr val="FF7047"/>
          </a:solidFill>
          <a:ln/>
        </p:spPr>
      </p:sp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id="{BA985C95-DAC9-E812-885D-06A561F81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8043" y="2831821"/>
            <a:ext cx="242888" cy="242888"/>
          </a:xfrm>
          <a:prstGeom prst="rect">
            <a:avLst/>
          </a:prstGeom>
        </p:spPr>
      </p:pic>
      <p:sp>
        <p:nvSpPr>
          <p:cNvPr id="26" name="Text 20">
            <a:extLst>
              <a:ext uri="{FF2B5EF4-FFF2-40B4-BE49-F238E27FC236}">
                <a16:creationId xmlns:a16="http://schemas.microsoft.com/office/drawing/2014/main" id="{07CCB537-1CC2-B36E-CBF2-DF160CB9D680}"/>
              </a:ext>
            </a:extLst>
          </p:cNvPr>
          <p:cNvSpPr/>
          <p:nvPr/>
        </p:nvSpPr>
        <p:spPr>
          <a:xfrm>
            <a:off x="921965" y="3459280"/>
            <a:ext cx="2803446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5: Gender Equality</a:t>
            </a:r>
            <a:endParaRPr lang="en-US" sz="195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9AC6AF85-A1C9-FACE-A32C-0F18E2DA0BE5}"/>
              </a:ext>
            </a:extLst>
          </p:cNvPr>
          <p:cNvSpPr/>
          <p:nvPr/>
        </p:nvSpPr>
        <p:spPr>
          <a:xfrm>
            <a:off x="921965" y="3896954"/>
            <a:ext cx="6055043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Promoting equal access to education for both boys and girls, and ensuring gender balance among volunteers.</a:t>
            </a:r>
            <a:endParaRPr lang="en-US" sz="15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919AAA5-8867-D67F-B41D-E650726399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037" y="3074709"/>
            <a:ext cx="4082686" cy="232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035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880D3-C330-AE65-0FAB-6C1930612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0554CE-FE8D-3312-F43B-7C000F2DDCA9}"/>
              </a:ext>
            </a:extLst>
          </p:cNvPr>
          <p:cNvSpPr/>
          <p:nvPr/>
        </p:nvSpPr>
        <p:spPr>
          <a:xfrm>
            <a:off x="708422" y="775097"/>
            <a:ext cx="11892082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CRC-MBSTU’s Direct Alignment with Global Goals</a:t>
            </a:r>
            <a:endParaRPr lang="en-US" sz="3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677559-4D33-313A-4640-F1806431323A}"/>
              </a:ext>
            </a:extLst>
          </p:cNvPr>
          <p:cNvSpPr/>
          <p:nvPr/>
        </p:nvSpPr>
        <p:spPr>
          <a:xfrm>
            <a:off x="708422" y="1812369"/>
            <a:ext cx="1321355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CRC's voluntary efforts directly address some critical SDGs, demonstrating the power of youth-led local action to achieve global impact.</a:t>
            </a:r>
            <a:endParaRPr lang="en-US" sz="15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2972165-D519-DCE9-4833-4D128A72F70C}"/>
              </a:ext>
            </a:extLst>
          </p:cNvPr>
          <p:cNvSpPr/>
          <p:nvPr/>
        </p:nvSpPr>
        <p:spPr>
          <a:xfrm>
            <a:off x="708422" y="2667476"/>
            <a:ext cx="4269581" cy="2464356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27E8A7A-C535-0217-C82B-3035ED8D65CB}"/>
              </a:ext>
            </a:extLst>
          </p:cNvPr>
          <p:cNvSpPr/>
          <p:nvPr/>
        </p:nvSpPr>
        <p:spPr>
          <a:xfrm>
            <a:off x="708422" y="2644616"/>
            <a:ext cx="4269581" cy="91440"/>
          </a:xfrm>
          <a:prstGeom prst="roundRect">
            <a:avLst>
              <a:gd name="adj" fmla="val 199220"/>
            </a:avLst>
          </a:prstGeom>
          <a:solidFill>
            <a:srgbClr val="FF7047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AE3DC8E-78F8-9662-CEAE-1E20944B1562}"/>
              </a:ext>
            </a:extLst>
          </p:cNvPr>
          <p:cNvSpPr/>
          <p:nvPr/>
        </p:nvSpPr>
        <p:spPr>
          <a:xfrm>
            <a:off x="2539603" y="2363867"/>
            <a:ext cx="607219" cy="607219"/>
          </a:xfrm>
          <a:prstGeom prst="roundRect">
            <a:avLst>
              <a:gd name="adj" fmla="val 150588"/>
            </a:avLst>
          </a:prstGeom>
          <a:solidFill>
            <a:srgbClr val="FF7047"/>
          </a:solidFill>
          <a:ln/>
        </p:spPr>
      </p:sp>
      <p:pic>
        <p:nvPicPr>
          <p:cNvPr id="7" name="Image 0" descr="Arrow circle with solid fill">
            <a:extLst>
              <a:ext uri="{FF2B5EF4-FFF2-40B4-BE49-F238E27FC236}">
                <a16:creationId xmlns:a16="http://schemas.microsoft.com/office/drawing/2014/main" id="{E9E7B730-16EE-4D55-44DD-C74B5CA710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721769" y="2546033"/>
            <a:ext cx="242888" cy="242888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A1AB7FF9-E429-541E-D46C-032D5684C3B2}"/>
              </a:ext>
            </a:extLst>
          </p:cNvPr>
          <p:cNvSpPr/>
          <p:nvPr/>
        </p:nvSpPr>
        <p:spPr>
          <a:xfrm>
            <a:off x="746120" y="3104581"/>
            <a:ext cx="5338157" cy="38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dirty="0">
                <a:latin typeface="Inter" panose="020B0604020202020204" charset="0"/>
                <a:ea typeface="Inter" panose="020B0604020202020204" charset="0"/>
              </a:rPr>
              <a:t>SDG 11 – Sustainable Cities and Communities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23AB41C-3A28-16AF-B381-DB41E13A092D}"/>
              </a:ext>
            </a:extLst>
          </p:cNvPr>
          <p:cNvSpPr/>
          <p:nvPr/>
        </p:nvSpPr>
        <p:spPr>
          <a:xfrm>
            <a:off x="933688" y="3611166"/>
            <a:ext cx="3819049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 dirty="0">
                <a:latin typeface="Manrope" panose="020B0604020202020204" charset="0"/>
              </a:rPr>
              <a:t>CRC’s plantation drives make the MBSTU campus and nearby areas greener, cleaner, and more livable</a:t>
            </a:r>
            <a:endParaRPr lang="en-US" sz="1550" dirty="0">
              <a:latin typeface="Manrope" panose="020B0604020202020204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3D2335B-630E-1B69-6313-DCD69311D886}"/>
              </a:ext>
            </a:extLst>
          </p:cNvPr>
          <p:cNvSpPr/>
          <p:nvPr/>
        </p:nvSpPr>
        <p:spPr>
          <a:xfrm>
            <a:off x="8181518" y="2667476"/>
            <a:ext cx="4269581" cy="2464356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/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8BAED0C3-B8D2-572D-76AC-D46E221937AD}"/>
              </a:ext>
            </a:extLst>
          </p:cNvPr>
          <p:cNvSpPr/>
          <p:nvPr/>
        </p:nvSpPr>
        <p:spPr>
          <a:xfrm>
            <a:off x="9652397" y="2667476"/>
            <a:ext cx="4269581" cy="2464356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/>
        </p:spPr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4667C0F2-78C1-2E56-9DAE-019FF619599C}"/>
              </a:ext>
            </a:extLst>
          </p:cNvPr>
          <p:cNvSpPr/>
          <p:nvPr/>
        </p:nvSpPr>
        <p:spPr>
          <a:xfrm>
            <a:off x="661531" y="4860277"/>
            <a:ext cx="4269581" cy="91440"/>
          </a:xfrm>
          <a:prstGeom prst="roundRect">
            <a:avLst>
              <a:gd name="adj" fmla="val 199220"/>
            </a:avLst>
          </a:prstGeom>
          <a:solidFill>
            <a:srgbClr val="FF7047"/>
          </a:solidFill>
          <a:ln/>
        </p:spPr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F19D2997-77BB-EDCB-F377-7429F52D8BCB}"/>
              </a:ext>
            </a:extLst>
          </p:cNvPr>
          <p:cNvSpPr/>
          <p:nvPr/>
        </p:nvSpPr>
        <p:spPr>
          <a:xfrm>
            <a:off x="2492712" y="4579528"/>
            <a:ext cx="607219" cy="607219"/>
          </a:xfrm>
          <a:prstGeom prst="roundRect">
            <a:avLst>
              <a:gd name="adj" fmla="val 150588"/>
            </a:avLst>
          </a:prstGeom>
          <a:solidFill>
            <a:srgbClr val="FF7047"/>
          </a:solidFill>
          <a:ln/>
        </p:spPr>
      </p:sp>
      <p:pic>
        <p:nvPicPr>
          <p:cNvPr id="19" name="Image 0" descr="Deciduous tree with solid fill">
            <a:extLst>
              <a:ext uri="{FF2B5EF4-FFF2-40B4-BE49-F238E27FC236}">
                <a16:creationId xmlns:a16="http://schemas.microsoft.com/office/drawing/2014/main" id="{6EC7F9B4-ABD1-3BA9-7782-A967D6B9A7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674878" y="4761694"/>
            <a:ext cx="242888" cy="242888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4AB8B2A6-9F95-AE4B-0CE2-6E06ECA27E0A}"/>
              </a:ext>
            </a:extLst>
          </p:cNvPr>
          <p:cNvSpPr/>
          <p:nvPr/>
        </p:nvSpPr>
        <p:spPr>
          <a:xfrm>
            <a:off x="886797" y="5389153"/>
            <a:ext cx="253007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2000" dirty="0"/>
              <a:t>SDG 13 – Climate Action</a:t>
            </a:r>
            <a:endParaRPr lang="en-US" sz="195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89C85079-6043-4001-C581-45F645C2DC22}"/>
              </a:ext>
            </a:extLst>
          </p:cNvPr>
          <p:cNvSpPr/>
          <p:nvPr/>
        </p:nvSpPr>
        <p:spPr>
          <a:xfrm>
            <a:off x="886797" y="5826827"/>
            <a:ext cx="3819049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400" dirty="0">
                <a:latin typeface="Manrope" panose="020B0604020202020204" charset="0"/>
              </a:rPr>
              <a:t>CRC organizes tree plantation programs to combat climate change and reduce global warming.</a:t>
            </a: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471AB375-15B0-C7E3-B1F2-3A6645159913}"/>
              </a:ext>
            </a:extLst>
          </p:cNvPr>
          <p:cNvSpPr/>
          <p:nvPr/>
        </p:nvSpPr>
        <p:spPr>
          <a:xfrm>
            <a:off x="7906392" y="2714956"/>
            <a:ext cx="4269581" cy="91440"/>
          </a:xfrm>
          <a:prstGeom prst="roundRect">
            <a:avLst>
              <a:gd name="adj" fmla="val 199220"/>
            </a:avLst>
          </a:prstGeom>
          <a:solidFill>
            <a:srgbClr val="FF7047"/>
          </a:solidFill>
          <a:ln/>
        </p:spPr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D078E05D-D0C7-8310-11A6-61D3570BCD8D}"/>
              </a:ext>
            </a:extLst>
          </p:cNvPr>
          <p:cNvSpPr/>
          <p:nvPr/>
        </p:nvSpPr>
        <p:spPr>
          <a:xfrm>
            <a:off x="9737573" y="2434207"/>
            <a:ext cx="607219" cy="607219"/>
          </a:xfrm>
          <a:prstGeom prst="roundRect">
            <a:avLst>
              <a:gd name="adj" fmla="val 150588"/>
            </a:avLst>
          </a:prstGeom>
          <a:solidFill>
            <a:srgbClr val="FF7047"/>
          </a:solidFill>
          <a:ln/>
        </p:spPr>
      </p:sp>
      <p:pic>
        <p:nvPicPr>
          <p:cNvPr id="29" name="Image 0" descr="Deciduous tree with solid fill">
            <a:extLst>
              <a:ext uri="{FF2B5EF4-FFF2-40B4-BE49-F238E27FC236}">
                <a16:creationId xmlns:a16="http://schemas.microsoft.com/office/drawing/2014/main" id="{0146F218-E9C8-E0D0-FD0E-CD179ACB56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919739" y="2616373"/>
            <a:ext cx="242888" cy="242888"/>
          </a:xfrm>
          <a:prstGeom prst="rect">
            <a:avLst/>
          </a:prstGeom>
        </p:spPr>
      </p:pic>
      <p:sp>
        <p:nvSpPr>
          <p:cNvPr id="30" name="Text 5">
            <a:extLst>
              <a:ext uri="{FF2B5EF4-FFF2-40B4-BE49-F238E27FC236}">
                <a16:creationId xmlns:a16="http://schemas.microsoft.com/office/drawing/2014/main" id="{F51B43A5-74D7-1C6C-419D-C7593A83F735}"/>
              </a:ext>
            </a:extLst>
          </p:cNvPr>
          <p:cNvSpPr/>
          <p:nvPr/>
        </p:nvSpPr>
        <p:spPr>
          <a:xfrm>
            <a:off x="8131658" y="3243832"/>
            <a:ext cx="253007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SDG 15 – Life on Land</a:t>
            </a:r>
            <a:endParaRPr lang="en-US" sz="195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44CC924D-1216-91AA-9CF9-660A28950C97}"/>
              </a:ext>
            </a:extLst>
          </p:cNvPr>
          <p:cNvSpPr/>
          <p:nvPr/>
        </p:nvSpPr>
        <p:spPr>
          <a:xfrm>
            <a:off x="8131658" y="3681506"/>
            <a:ext cx="3819049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400" dirty="0">
                <a:latin typeface="Manrope" panose="020B0604020202020204" charset="0"/>
              </a:rPr>
              <a:t>By planting trees, CRC contributes to protecting terrestrial ecosystems, preventing soil erosion, and preserving biodiversity.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9FB974A-0B10-8822-F461-FD1539E86D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1736" y="4774500"/>
            <a:ext cx="2723436" cy="272343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65E9627-FE20-A3BF-7954-AF69562849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9638" y="5140680"/>
            <a:ext cx="3542540" cy="265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486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D2033-CBD9-F531-3313-4E94DB297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F83B5E-3924-E62C-0E81-47B50564FC82}"/>
              </a:ext>
            </a:extLst>
          </p:cNvPr>
          <p:cNvSpPr/>
          <p:nvPr/>
        </p:nvSpPr>
        <p:spPr>
          <a:xfrm>
            <a:off x="708422" y="775097"/>
            <a:ext cx="11892082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CRC-MBSTU’s Direct Alignment with Global Goals</a:t>
            </a:r>
            <a:endParaRPr lang="en-US" sz="3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42D377-9921-CFB9-DC7B-68018F0126F1}"/>
              </a:ext>
            </a:extLst>
          </p:cNvPr>
          <p:cNvSpPr/>
          <p:nvPr/>
        </p:nvSpPr>
        <p:spPr>
          <a:xfrm>
            <a:off x="708422" y="1812369"/>
            <a:ext cx="1321355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CRC's voluntary efforts directly address six critical SDGs, demonstrating the power of youth-led local action to achieve global impact.</a:t>
            </a:r>
            <a:endParaRPr lang="en-US" sz="155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329833ED-42BE-78F5-4B66-4B9D985753C4}"/>
              </a:ext>
            </a:extLst>
          </p:cNvPr>
          <p:cNvSpPr/>
          <p:nvPr/>
        </p:nvSpPr>
        <p:spPr>
          <a:xfrm>
            <a:off x="9652397" y="2667476"/>
            <a:ext cx="4269581" cy="2464356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/>
        </p:spPr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8697315E-F0C8-643A-45E3-F3EF20BAEF95}"/>
              </a:ext>
            </a:extLst>
          </p:cNvPr>
          <p:cNvSpPr/>
          <p:nvPr/>
        </p:nvSpPr>
        <p:spPr>
          <a:xfrm>
            <a:off x="708422" y="5637848"/>
            <a:ext cx="6505575" cy="1816656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/>
        </p:spPr>
      </p:sp>
      <p:pic>
        <p:nvPicPr>
          <p:cNvPr id="31" name="Image 4" descr="preencoded.png">
            <a:extLst>
              <a:ext uri="{FF2B5EF4-FFF2-40B4-BE49-F238E27FC236}">
                <a16:creationId xmlns:a16="http://schemas.microsoft.com/office/drawing/2014/main" id="{1DB44A01-2BA9-405E-D9B9-9AE49CCF01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2479" y="2550474"/>
            <a:ext cx="242888" cy="24288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8" name="Shape 22">
            <a:extLst>
              <a:ext uri="{FF2B5EF4-FFF2-40B4-BE49-F238E27FC236}">
                <a16:creationId xmlns:a16="http://schemas.microsoft.com/office/drawing/2014/main" id="{315C82CE-9DF8-87D8-2AFD-40CEDC2CA2FA}"/>
              </a:ext>
            </a:extLst>
          </p:cNvPr>
          <p:cNvSpPr/>
          <p:nvPr/>
        </p:nvSpPr>
        <p:spPr>
          <a:xfrm>
            <a:off x="781130" y="2741659"/>
            <a:ext cx="6505575" cy="1816656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/>
        </p:spPr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4E154295-72B0-9A63-C34B-A505FA46CA79}"/>
              </a:ext>
            </a:extLst>
          </p:cNvPr>
          <p:cNvSpPr/>
          <p:nvPr/>
        </p:nvSpPr>
        <p:spPr>
          <a:xfrm>
            <a:off x="781130" y="2695939"/>
            <a:ext cx="6505575" cy="91440"/>
          </a:xfrm>
          <a:prstGeom prst="roundRect">
            <a:avLst>
              <a:gd name="adj" fmla="val 199220"/>
            </a:avLst>
          </a:prstGeom>
          <a:solidFill>
            <a:srgbClr val="FF7047"/>
          </a:solidFill>
          <a:ln/>
        </p:spPr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6DEFB4C3-0153-D05B-E255-33E9F413B97E}"/>
              </a:ext>
            </a:extLst>
          </p:cNvPr>
          <p:cNvSpPr/>
          <p:nvPr/>
        </p:nvSpPr>
        <p:spPr>
          <a:xfrm>
            <a:off x="3730308" y="2415189"/>
            <a:ext cx="607219" cy="607219"/>
          </a:xfrm>
          <a:prstGeom prst="roundRect">
            <a:avLst>
              <a:gd name="adj" fmla="val 150588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E30AFD2F-E372-1F5A-9A14-A7B6AFF951FC}"/>
              </a:ext>
            </a:extLst>
          </p:cNvPr>
          <p:cNvSpPr/>
          <p:nvPr/>
        </p:nvSpPr>
        <p:spPr>
          <a:xfrm>
            <a:off x="1006396" y="3224814"/>
            <a:ext cx="3498294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10: Reduced Inequalities</a:t>
            </a:r>
            <a:endParaRPr lang="en-US" sz="1950" dirty="0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E070A72D-082C-2A22-BDD8-388DD2CE7F41}"/>
              </a:ext>
            </a:extLst>
          </p:cNvPr>
          <p:cNvSpPr/>
          <p:nvPr/>
        </p:nvSpPr>
        <p:spPr>
          <a:xfrm>
            <a:off x="1006396" y="3662488"/>
            <a:ext cx="6055043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Working proactively to integrate marginalised children into mainstream social opportunities and awareness.</a:t>
            </a:r>
            <a:endParaRPr lang="en-US" sz="1550" dirty="0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E42DB42D-83CA-842B-4751-887F05DE0A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2473" y="2620215"/>
            <a:ext cx="242888" cy="2428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9A95F66-1119-88AF-20C1-E5BD2A53A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8091" y="4453499"/>
            <a:ext cx="4327582" cy="32456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E505859-CB70-307C-197F-770F80943A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865" y="4431632"/>
            <a:ext cx="4327582" cy="324969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5D9C1AA-617B-4C31-F35A-861486492A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8038" y="2863103"/>
            <a:ext cx="3091575" cy="415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612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133" y="533638"/>
            <a:ext cx="13272135" cy="1212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Education: The Foundation of Empowerment (SDG 4)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79133" y="2231350"/>
            <a:ext cx="3151108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Teaching Programmes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79133" y="2728436"/>
            <a:ext cx="7773829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Regular, structured classes held in accessible community spaces.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79133" y="3106817"/>
            <a:ext cx="7773829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Curriculum focused on foundational literacy, numeracy, and life skills.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9133" y="3485198"/>
            <a:ext cx="7773829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Creating a safe and engaging learning environment away from the street.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933974" y="7498675"/>
            <a:ext cx="5024795" cy="49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CRC volunteers believe that education is the most powerful tool for ending the cycle of poverty.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6D546F-6710-B584-3055-A0C41A1AB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10" y="4020978"/>
            <a:ext cx="4923884" cy="34192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C962B6-C448-C222-8C23-AE37CB372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1118" y="1746611"/>
            <a:ext cx="4543772" cy="55527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40423" y="760095"/>
            <a:ext cx="7635954" cy="1346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and Well-being Initiatives (SDG 3)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40423" y="2429828"/>
            <a:ext cx="763595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Beyond education, CRC addresses the critical health disparities faced by underprivileged children.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240423" y="3361730"/>
            <a:ext cx="3710226" cy="2291001"/>
          </a:xfrm>
          <a:prstGeom prst="roundRect">
            <a:avLst>
              <a:gd name="adj" fmla="val 22571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63427" y="3584734"/>
            <a:ext cx="3264218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Health Campaigns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463427" y="4387096"/>
            <a:ext cx="3264218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Organising free medical check-ups and distributing essential medicines and hygiene kits.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0166033" y="3361730"/>
            <a:ext cx="3710345" cy="2291001"/>
          </a:xfrm>
          <a:prstGeom prst="roundRect">
            <a:avLst>
              <a:gd name="adj" fmla="val 22571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89037" y="3584734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Aid Training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389037" y="4050506"/>
            <a:ext cx="3264337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Equipping volunteers and older children with basic first aid knowledge for immediate response.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6240423" y="5868114"/>
            <a:ext cx="7635954" cy="1601391"/>
          </a:xfrm>
          <a:prstGeom prst="roundRect">
            <a:avLst>
              <a:gd name="adj" fmla="val 32290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3427" y="6091118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Nutritional Support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463427" y="6556891"/>
            <a:ext cx="7189946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Targeted provision of nutritious meals and supplements to address chronic malnutrition.</a:t>
            </a:r>
            <a:endParaRPr lang="en-US" sz="16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32B6ABD-1205-2417-0675-A1711F228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70" y="-64294"/>
            <a:ext cx="6114369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7225"/>
            <a:ext cx="102125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in Numbers: Stories of Change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82979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300+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39147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Children Benefited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40519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Directly benefiting from regular education and health support programmes each year.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2882979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100+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39147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Volunteers Engaged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40519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Active student volunteers from various departments across MBSTU.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2882979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39147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Events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440519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Organised large-scale health camps, book drives, and awareness programs annually.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33951" y="6004203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"Seeing a child who used to spend their day begging now eagerly holding a textbook—that is our measure of success."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749052"/>
            <a:ext cx="30480" cy="873204"/>
          </a:xfrm>
          <a:prstGeom prst="rect">
            <a:avLst/>
          </a:prstGeom>
          <a:solidFill>
            <a:srgbClr val="FF704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683</Words>
  <Application>Microsoft Office PowerPoint</Application>
  <PresentationFormat>Custom</PresentationFormat>
  <Paragraphs>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Inter</vt:lpstr>
      <vt:lpstr>Calibri Light</vt:lpstr>
      <vt:lpstr>Arial</vt:lpstr>
      <vt:lpstr>Calibri</vt:lpstr>
      <vt:lpstr>Manrope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Shahid Mahmud</cp:lastModifiedBy>
  <cp:revision>3</cp:revision>
  <dcterms:created xsi:type="dcterms:W3CDTF">2025-11-01T17:43:56Z</dcterms:created>
  <dcterms:modified xsi:type="dcterms:W3CDTF">2025-11-01T18:42:04Z</dcterms:modified>
</cp:coreProperties>
</file>